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Golden Section (φⁿ)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0.618</c:v>
                </c:pt>
                <c:pt idx="2">
                  <c:v>0.381924</c:v>
                </c:pt>
                <c:pt idx="3">
                  <c:v>0.236029</c:v>
                </c:pt>
                <c:pt idx="4">
                  <c:v>0.145866</c:v>
                </c:pt>
                <c:pt idx="5">
                  <c:v>0.090145</c:v>
                </c:pt>
                <c:pt idx="6">
                  <c:v>0.05571</c:v>
                </c:pt>
                <c:pt idx="7">
                  <c:v>0.034429</c:v>
                </c:pt>
                <c:pt idx="8">
                  <c:v>0.021277</c:v>
                </c:pt>
                <c:pt idx="9">
                  <c:v>0.013149</c:v>
                </c:pt>
                <c:pt idx="10">
                  <c:v>0.008126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Descent (0.8ⁿ)</c:v>
                </c:pt>
              </c:strCache>
            </c:strRef>
          </c:tx>
          <c:spPr>
            <a:solidFill>
              <a:srgbClr val="00B4D8"/>
            </a:solidFill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0.8</c:v>
                </c:pt>
                <c:pt idx="2">
                  <c:v>0.64</c:v>
                </c:pt>
                <c:pt idx="3">
                  <c:v>0.512</c:v>
                </c:pt>
                <c:pt idx="4">
                  <c:v>0.4096</c:v>
                </c:pt>
                <c:pt idx="5">
                  <c:v>0.32768</c:v>
                </c:pt>
                <c:pt idx="6">
                  <c:v>0.262144</c:v>
                </c:pt>
                <c:pt idx="7">
                  <c:v>0.209715</c:v>
                </c:pt>
                <c:pt idx="8">
                  <c:v>0.167772</c:v>
                </c:pt>
                <c:pt idx="9">
                  <c:v>0.134218</c:v>
                </c:pt>
                <c:pt idx="10">
                  <c:v>0.107374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Newton's Method (0.1·0.1ⁿ)</c:v>
                </c:pt>
              </c:strCache>
            </c:strRef>
          </c:tx>
          <c:spPr>
            <a:solidFill>
              <a:srgbClr val="F4A261"/>
            </a:solidFill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0.1</c:v>
                </c:pt>
                <c:pt idx="1">
                  <c:v>0.01</c:v>
                </c:pt>
                <c:pt idx="2">
                  <c:v>0.001</c:v>
                </c:pt>
                <c:pt idx="3">
                  <c:v>0.0001</c:v>
                </c:pt>
                <c:pt idx="4">
                  <c:v>0.00001</c:v>
                </c:pt>
                <c:pt idx="5">
                  <c:v>0.000001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4114800" cy="4114800"/>
          </a:xfrm>
          <a:prstGeom prst="ellipse">
            <a:avLst/>
          </a:prstGeom>
          <a:solidFill>
            <a:srgbClr val="1A355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152B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  •  Gradient Descent  •  Newton's Method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5029200" cy="27432"/>
          </a:xfrm>
          <a:prstGeom prst="rect">
            <a:avLst/>
          </a:prstGeom>
          <a:solidFill>
            <a:srgbClr val="2A4F7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  |  Department of Mathematics &amp;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78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Basics, motivation, and core concepts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502920" cy="5029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Algorithms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Section, Gradient Descent, Newton's Method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502920" cy="5029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worked examples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502920" cy="5029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visualization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960120"/>
            <a:ext cx="502920" cy="50292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978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Website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234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dynamic visualization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874520"/>
            <a:ext cx="502920" cy="50292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Comparisons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148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 &amp; why these methods win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788920"/>
            <a:ext cx="502920" cy="50292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suggestions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Core Concepts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Numerical Optimization?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minimum or maximum of a function f(x) numerically when analytical solutions are intractable.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64008" cy="12984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f(x) to be minimized or maximized. e.g. loss in ML, cost in engineering.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44752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44752"/>
            <a:ext cx="64008" cy="129844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x that we adjust to achieve the optimal outcome.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62072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62072"/>
            <a:ext cx="64008" cy="12984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the solution must satisfy (bounds, equalities, inequalities).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62072"/>
            <a:ext cx="420624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62072"/>
            <a:ext cx="64008" cy="12984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 Condition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0 (f'(x*)=0) for unconstrained smooth problems.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3708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f(x)   s.t.   g(x) ≤ 0,  h(x) = 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03327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399032"/>
            <a:ext cx="0" cy="347472"/>
          </a:xfrm>
          <a:prstGeom prst="line">
            <a:avLst/>
          </a:prstGeom>
          <a:noFill/>
          <a:ln w="25400">
            <a:solidFill>
              <a:srgbClr val="BBDEF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&amp; Leibniz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enables analytical optimization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81965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" y="182880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0" cy="347472"/>
          </a:xfrm>
          <a:prstGeom prst="line">
            <a:avLst/>
          </a:prstGeom>
          <a:noFill/>
          <a:ln w="25400">
            <a:solidFill>
              <a:srgbClr val="BBDEF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" y="1801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steepest descent (gradient descent)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" y="26243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990088"/>
            <a:ext cx="0" cy="347472"/>
          </a:xfrm>
          <a:prstGeom prst="line">
            <a:avLst/>
          </a:prstGeom>
          <a:noFill/>
          <a:ln w="25400">
            <a:solidFill>
              <a:srgbClr val="BBDEF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77240" y="2596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898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 formally proven optimal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41071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" y="341985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785616"/>
            <a:ext cx="0" cy="347472"/>
          </a:xfrm>
          <a:prstGeom prst="line">
            <a:avLst/>
          </a:prstGeom>
          <a:noFill/>
          <a:ln w="25400">
            <a:solidFill>
              <a:srgbClr val="BBDEF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7724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Davidon-Fletcher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36941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Quasi-Newton methods developed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20624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" y="421538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4489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powers neural networks worldwide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Numerical Optimization?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1430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42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functions have no analytical minimum — e.g., deep neural network loss surfaces.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1430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042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38988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millions of variables (ML models) cannot be solved symbolically.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4206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322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Scalability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67004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algorithms handle massive datasets efficiently using only derivatives.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206240" cy="11430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286000"/>
            <a:ext cx="42062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322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67004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algorithm can solve diverse problems: physics, finance, engineering, AI.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1430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66160"/>
            <a:ext cx="4206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602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95020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work even when functions are noisy or discontinuous.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4206240" cy="11430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566160"/>
            <a:ext cx="42062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3602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Convergence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18888" y="395020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methods come with mathematical convergence guarantees.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Theory &amp; Algorithms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 •  Gradient Descent  •  Newton's Method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 —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8404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unimodal functions on [a, b]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derivative required — derivative-free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ratio: φ = (√5 − 1) / 2 ≈ 0.618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interior points: x₁ = a + (1−φ)(b−a),  x₂ = a + φ(b−a)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larger or smaller portion based on f(x₁) vs f(x₂)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shrinks by factor φ each iteration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rate: linear  O(φⁿ)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bracket reduction without derivatives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Narrowing Diagram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02336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228" y="1417320"/>
            <a:ext cx="7315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204740" y="1417320"/>
            <a:ext cx="73152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830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[a, b]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283464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1136" y="2148840"/>
            <a:ext cx="7315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0112" y="2148840"/>
            <a:ext cx="73152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514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iter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210312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1696" y="2880360"/>
            <a:ext cx="7315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018032" y="2880360"/>
            <a:ext cx="73152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46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iter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155448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12115" y="3611880"/>
            <a:ext cx="7315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78973" y="3611880"/>
            <a:ext cx="73152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77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iter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x₁  ■ x₂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8404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first-order method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rule: xₙ₊₁ = xₙ − α ∇f(xₙ)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learning rate (step size)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∇f(x) points in direction of steepest ascent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opposite to gradient decreases 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local minimum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SGD, Mini-batch, Momentum, Adam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machine learning &amp; deep learning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 =  xₙ  −  α · ∇f(xₙ)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α is the learning rate and ∇f is the gradient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944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Learning Rate 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328416"/>
            <a:ext cx="1371600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328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small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346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slow convergence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785616"/>
            <a:ext cx="137160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optimal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3803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stable convergence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4242816"/>
            <a:ext cx="137160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4242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too large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261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 / divergence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for Optimization —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8404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optimization method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gradient AND Hessian matrix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xₙ₊₁ = xₙ − [H(xₙ)]⁻¹ · ∇f(xₙ)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∂²f/∂xᵢ∂xⱼ (matrix of second derivatives)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 near the optimum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case: xₙ₊₁ = xₙ − f'(xₙ)/f''(xₙ)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gradient descent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Expensive: requires computing &amp; inverting Hessian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828800"/>
          </a:xfrm>
          <a:prstGeom prst="rect">
            <a:avLst/>
          </a:prstGeom>
          <a:solidFill>
            <a:srgbClr val="1A0A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Update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= xₙ − H⁻¹∇f(xₙ)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Hessian matrix | ∇f = gradient vector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944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Comparison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291840"/>
          <a:ext cx="3931920" cy="13716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914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O(ρⁿ)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Newton's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O(ρ²ⁿ)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O(φⁿ)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Practice Problems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Worked Solutions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Golden Section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418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minimum of f(x) = x² − 4x + 6  on the interval [0, 4]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27632"/>
          <a:ext cx="8595360" cy="2011680"/>
        </p:xfrm>
        <a:graphic>
          <a:graphicData uri="http://schemas.openxmlformats.org/drawingml/2006/table">
            <a:tbl>
              <a:tblPr/>
              <a:tblGrid>
                <a:gridCol w="54864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x₂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f(x₁)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f(x₂)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1.5280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2.4720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2.2228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2.2228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 right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2.4720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0.9443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1.5277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3.1145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2.2231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0.9443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2.4720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1.5279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1.8884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2.2229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2.0125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1.5279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2.4720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1.8885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2.1113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2.0124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2.0124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 left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79476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Conclusion: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 iterations, the minimum is approximately at x* ≈ 2.0 (exact: x*=2, f(2)=2).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shrinks by factor φ≈0.618 each step. Error after n steps: (b−a)·φⁿ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Gradient Descent vs Newton's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f(x) = x⁴ − 3x³ + 2  starting from x₀ = 4,  α = 0.05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 (xₙ₊₁ = xₙ − α·f'(xₙ),  f'(x) = 4x³ − 9x²)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5029200" cy="201168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463040"/>
                <a:gridCol w="146304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112.0000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-1.6000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20.8416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-39.4240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0.3712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1.8655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-1.0355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0.4230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1.8050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-1.3075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0.4883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1.7075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-1.6805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1772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 (xₙ₊₁ = xₙ − f'(xₙ)/f''(xₙ),  f''(x) = 12x² − 18x)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920240"/>
          <a:ext cx="4297680" cy="201168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234440"/>
                <a:gridCol w="123444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xₙ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f''(xₙ)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112.0000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120.0000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3.0667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30.7212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57.6533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2.5338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7.2883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31.4336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2.3019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1.1009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22.1523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2.2522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0.0455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20.3308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4078224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converges in ~2–3 steps to x*≈2.25 while Gradient Descent needs many more iterations — demonstrating quadratic vs linear convergence.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Python Implementation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Visualization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Golden Section Search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3977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as np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as plt
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golden_section_search(</a:t>
            </a:r>
            <a:pPr indent="0" marL="0"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f, a, b, tol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=1e-5):
</a:t>
            </a:r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phi = (np.sqrt(5) - 1) / 2  # golden ratio ≈ 0.618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iters = []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- a) &gt; tol: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x1 = a + (1 - phi) * (b - a)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x2 = a + phi * (b - a)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f(x1) &lt; f(x2): b = x2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 = x1
</a:t>
            </a:r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iters.append((a + b) / 2)  # midpoint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 / 2, iters
</a:t>
            </a:r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
f = lambda x: x**2 - 4*x + 6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x_min, history = golden_section_search(f, 0, 4)
</a:t>
            </a:r>
            <a:pPr indent="0" marL="0"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(f'Minimum at x={x_min:.5f}')
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Gradient Descent + Matplotlib Visualization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937760" cy="3977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47091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gradient_descent(f, df, x0, alpha</a:t>
            </a:r>
            <a:pPr indent="0" marL="0">
              <a:buNone/>
            </a:pPr>
            <a:r>
              <a:rPr lang="en-US" sz="98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=0.05, n_iter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=50):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history = x0, [x0]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range(n_iter):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- alpha * df(x)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history.append(x)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x, history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= lambda x: x**4 - 3*x**3 + 2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lambda x: 4*x**3 - 9*x**2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x_opt, hist = gradient_descent(f, df, 4.0)
</a:t>
            </a:r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Visualization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= np.linspace(-1, 5, 300)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plt.figure(figsize=(8,5))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(xs, f(xs), 'b-', label='f(x)')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(hist, [f(x) for x in hist],
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'ro--', label='GD path')
</a:t>
            </a:r>
            <a:pPr indent="0" marL="0">
              <a:buNone/>
            </a:pPr>
            <a:r>
              <a:rPr lang="en-US" sz="98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([x_opt],[f(x_opt)],
</a:t>
            </a:r>
            <a:pPr indent="0" marL="0">
              <a:buNone/>
            </a:pPr>
            <a:r>
              <a:rPr lang="en-US" sz="98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s=200, marker='*', c='gold')
</a:t>
            </a:r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plt.legend(); plt.grid(True); plt.show()
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349240" y="914400"/>
            <a:ext cx="3520440" cy="3977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987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Visualization Output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3716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curve: f(x) = x⁴ − 3x³ + 2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line: Gradient descent path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star ★ at minimum x*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convergence to local 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pandas for tabular data export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seaborn for styled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scipy.optimize for comparison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3474720"/>
            <a:ext cx="3520440" cy="1188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3538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•  matplotlib  •  pandas  •  scipy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 matplotlib pandas scipy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Interactive Website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+ Plotly.js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Website — Key HTML/JS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0" cy="3977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480060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Include Plotly.js --&gt;
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src="https://cdn.plot.ly/plotly-latest.min.js"&gt;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
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"controls"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alpha: &lt;input type=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"range" id="lr"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step=0.01&gt;
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"run()"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&gt;Run&lt;/button&gt;
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
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id="chart"&gt;&lt;/div&gt;
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
</a:t>
            </a:r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 {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alpha = +document.getElementById(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'lr'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).value;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x=4, hist=[], fhist=[];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i=0;i&lt;80;i++){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hist.push(x); fhist.push(f(x));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-= alpha * df(x);
  }
</a:t>
            </a:r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Plotly.newPlot(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'chart'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[{x:hist,y:fhist,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type:'scatter',mode:'lines+markers'}]);
}
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3383280" cy="3977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987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23560" y="1444752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🎚️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Slider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1645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Interactively adjust 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10312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103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Plotly Chart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304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convergence path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0" y="2761488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2761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Selector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962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GD / Newton / GSS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3419856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3419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Table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6210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display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4078224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40782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&amp; Replay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with new params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Practical Applications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Numerical Optimization Powers the World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Areas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8346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24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22960" cy="1554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3444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49047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neural networks by minimizing cross-entropy / MSE loss functions. Powers GPT, BERT, ResNet.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283464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024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64408" y="1234440"/>
            <a:ext cx="822960" cy="1554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123444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64408" y="149047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estimation, filter design optimization. Used in GPS, audio compression (MP3, AAC).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17336" y="96012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960120"/>
            <a:ext cx="283464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08776" y="1024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08776" y="1234440"/>
            <a:ext cx="822960" cy="1554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08776" y="123444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08776" y="149047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Single-variable structural optimization — beam thickness, cable tension for minimum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8036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80360"/>
            <a:ext cx="28346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Economics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154680"/>
            <a:ext cx="822960" cy="1554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1546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0040" y="341071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optimization, option pricing (Black-Scholes calibration), risk model fitting.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72968" y="288036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880360"/>
            <a:ext cx="2834640" cy="457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2" name="Text 30"/>
          <p:cNvSpPr/>
          <p:nvPr/>
        </p:nvSpPr>
        <p:spPr>
          <a:xfrm>
            <a:off x="3264408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Control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64408" y="3154680"/>
            <a:ext cx="822960" cy="1554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31546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64408" y="341071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kinematics, trajectory planning, real-time control system optimization.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17336" y="2880360"/>
            <a:ext cx="28346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2880360"/>
            <a:ext cx="283464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8" name="Text 36"/>
          <p:cNvSpPr/>
          <p:nvPr/>
        </p:nvSpPr>
        <p:spPr>
          <a:xfrm>
            <a:off x="6208776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08776" y="3154680"/>
            <a:ext cx="822960" cy="15544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08776" y="315468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08776" y="3410712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CNNs for object detection, semantic segmentation, and image generation (GANs).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Methods Win — Advantages &amp; Comparisons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83464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78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627632"/>
            <a:ext cx="26334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derivatives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convergence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unimodal f(x)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implementation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bracket reduction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1D problems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8346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60120"/>
            <a:ext cx="2834640" cy="5943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978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82696" y="1627632"/>
            <a:ext cx="26334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millions of vars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needs 1st derivative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proven variants (Adam, SGD)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supported in frameworks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non-convex problems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 on GPU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8346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60120"/>
            <a:ext cx="2834640" cy="594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978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1627632"/>
            <a:ext cx="26334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iterations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 quadratic functions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stiff problems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invariant updates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Limitations &amp; Challenges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Methods Cannot 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Each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8862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8346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784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536192"/>
            <a:ext cx="263347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Only works on 1D problems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unimodal function on [a,b]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Cannot handle multivariate 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Relatively slow for high precision needs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Bracket [a,b] must be known in advance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834640" cy="38862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60120"/>
            <a:ext cx="2834640" cy="5029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784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1536192"/>
            <a:ext cx="263347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Converges to local minima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Sensitive to learning rate 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Slow convergence on ill-conditioned problems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f to be differentiable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Vanishing/exploding gradient issues in deep nets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834640" cy="388620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60120"/>
            <a:ext cx="283464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9784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27064" y="1536192"/>
            <a:ext cx="263347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Hessian (O(n²) memory)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Hessian inversion costs O(n³)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Can diverge if starting point is poor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Fails when Hessian is singular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Impractical for very large-scale problems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to Overcome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143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15568"/>
            <a:ext cx="320040" cy="3200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Extension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Golden Section with Nelder-Mead simplex or pattern search methods for multi-dimensional unimodal search.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64008" cy="11430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115568"/>
            <a:ext cx="320040" cy="32004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417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Adam, RMSProp, or Adagrad to automatically adjust learning rate — eliminates manual tuning in gradient descent.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86000"/>
            <a:ext cx="64008" cy="1143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395728"/>
            <a:ext cx="320040" cy="3200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Quasi-Newton Methods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697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BFGS and L-BFGS approximate the Hessian without computing it explicitly, scaling Newton's method to large problems.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86000"/>
            <a:ext cx="64008" cy="1143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395728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Methods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697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gradient descent reduces per-step cost by computing gradients on subsets, enabling large-scale training.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66160"/>
            <a:ext cx="64008" cy="11430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3675888"/>
            <a:ext cx="320040" cy="3200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Region Methods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39776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step size dynamically to avoid divergence — a robust alternative to line search in Newton's method.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566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566160"/>
            <a:ext cx="64008" cy="1143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3675888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39776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methods: use Golden Section for step size (line search) within gradient/Newton direction — best of both worlds.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Speed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6012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50292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875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078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Shapes Methods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3716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for 1D unimodal, Gradient Descent for large-scale, Newton for speed near optimum.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83080"/>
            <a:ext cx="502920" cy="71323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7830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Matters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1671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quadratic convergence dominates Gradient Descent's linear rate — at the cost of Hessian computation.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78608"/>
            <a:ext cx="502920" cy="7132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5786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Lunch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296265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has trade-offs: cost per iteration vs number of iterations vs memory vs assumptions.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74136"/>
            <a:ext cx="502920" cy="7132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7413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3465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ML Uses Hybrids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37581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= Gradient Descent + adaptive step sizes + momentum. Built on these foundational ideas.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6966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69664"/>
            <a:ext cx="502920" cy="71323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1696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4261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is Simple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" y="455371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NumPy + Matplotlib makes these methods accessible in &lt; 30 lines of code.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Optimization  |  Numerical Methods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Kiefer, J. (1953). Sequential minimax search for a maximum. Proceedings of the American Mathematical Society, 4, 502–506.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Cauchy, A. (1847). Méthode générale pour la résolution des systèmes d'équations simultanées.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Boyd, S., &amp; Vandenberghe, L. (2004). Convex Optimization. Cambridge University Press.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Nocedal, J., &amp; Wright, S. J. (2006). Numerical Optimization (2nd ed.). Springer.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Goodfellow, I., Bengio, Y., &amp; Courville, A. (2016). Deep Learning. MIT Press.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Press, W. H., et al. (2007). Numerical Recipes: The Art of Scientific Computing. Cambridge.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Kingma, D., &amp; Ba, J. (2014). Adam: A Method for Stochastic Optimization. ICLR 2015.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4114800" cy="4114800"/>
          </a:xfrm>
          <a:prstGeom prst="ellipse">
            <a:avLst/>
          </a:prstGeom>
          <a:solidFill>
            <a:srgbClr val="1A355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152B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0" cy="0"/>
          </a:xfrm>
          <a:prstGeom prst="line">
            <a:avLst/>
          </a:prstGeom>
          <a:noFill/>
          <a:ln w="19050">
            <a:solidFill>
              <a:srgbClr val="2A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Section Search  •  </a:t>
            </a:r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 •  </a:t>
            </a:r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Newton's Method for Optimization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Course  |  Department of Mathematics &amp;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f(x)  ∇f(x*) = 0  H(x*)⁻¹∇f(x*)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Optimization</dc:title>
  <dc:subject>PptxGenJS Presentation</dc:subject>
  <dc:creator>Numerical Methods Course</dc:creator>
  <cp:lastModifiedBy>Numerical Methods Course</cp:lastModifiedBy>
  <cp:revision>1</cp:revision>
  <dcterms:created xsi:type="dcterms:W3CDTF">2026-04-24T09:54:18Z</dcterms:created>
  <dcterms:modified xsi:type="dcterms:W3CDTF">2026-04-24T09:54:18Z</dcterms:modified>
</cp:coreProperties>
</file>