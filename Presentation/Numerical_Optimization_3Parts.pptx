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62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2743200" cy="658368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2331720"/>
            <a:ext cx="2743200" cy="658368"/>
          </a:xfrm>
          <a:prstGeom prst="rect">
            <a:avLst/>
          </a:prstGeom>
          <a:solidFill>
            <a:srgbClr val="43AA8B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37560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2331720"/>
            <a:ext cx="2743200" cy="658368"/>
          </a:xfrm>
          <a:prstGeom prst="rect">
            <a:avLst/>
          </a:prstGeom>
          <a:solidFill>
            <a:srgbClr val="F4A261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127248"/>
            <a:ext cx="5486400" cy="0"/>
          </a:xfrm>
          <a:prstGeom prst="line">
            <a:avLst/>
          </a:prstGeom>
          <a:noFill/>
          <a:ln w="12700">
            <a:solidFill>
              <a:srgbClr val="1E447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  •  Department of Mathematics &amp; Engineering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= xₙ − α·∇f(xₙ)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Text 1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56032" y="896112"/>
            <a:ext cx="2834640" cy="40690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896112"/>
            <a:ext cx="2834640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" y="896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56032" y="1152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" y="153619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Background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Theory &amp; Algorithm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2 Practice Problems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Python Implementation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Interactive Website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Applications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Advantages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Limitations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Suggestions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896112"/>
            <a:ext cx="2834640" cy="40690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896112"/>
            <a:ext cx="2834640" cy="566928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0" y="896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1152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153619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Background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Theory &amp; Algorithm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2 Practice Problems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Python Implementation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Interactive Website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Applications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Advantages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Limitations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Suggestions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4768" y="896112"/>
            <a:ext cx="2834640" cy="40690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44768" y="896112"/>
            <a:ext cx="2834640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4"/>
          <p:cNvSpPr/>
          <p:nvPr/>
        </p:nvSpPr>
        <p:spPr>
          <a:xfrm>
            <a:off x="6144768" y="896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44768" y="1152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81928" y="153619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Background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Theory &amp; Algorithm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2 Practice Problems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Python Implementation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Interactive Website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Applications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Advantages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Limitations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Suggestions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32004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411480" y="3200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Derivative-free interval reduction using the golden ratio φ ≈ 0.618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∇f(x*) = 0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Introduction &amp; Background: Golden Section Search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868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Golden Section Search?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20040" y="126187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bracket-reduction method that locates the minimum of a unimodal function on [a, b] without computing any derivatives. It exploits the golden ratio to reduce the search interval optimally at each step.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" y="187452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1874520"/>
            <a:ext cx="64008" cy="12984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" y="19659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27685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developed by J. Kiefer (1953). Proven to be the optimal sequential search for unimodal functions.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18304" y="187452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18304" y="1874520"/>
            <a:ext cx="64008" cy="129844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6" name="Text 13"/>
          <p:cNvSpPr/>
          <p:nvPr/>
        </p:nvSpPr>
        <p:spPr>
          <a:xfrm>
            <a:off x="4855464" y="19659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Ratio φ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55464" y="227685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(√5 − 1)/2 ≈ 0.618. The unique ratio that lets one interior point be reused across iterations.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92608" y="329184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92608" y="3291840"/>
            <a:ext cx="64008" cy="12984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7"/>
          <p:cNvSpPr/>
          <p:nvPr/>
        </p:nvSpPr>
        <p:spPr>
          <a:xfrm>
            <a:off x="429768" y="33832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29768" y="369417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must be unimodal on [a, b] — exactly one minimum, no oscillations.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18304" y="329184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18304" y="3291840"/>
            <a:ext cx="64008" cy="129844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4" name="Text 21"/>
          <p:cNvSpPr/>
          <p:nvPr/>
        </p:nvSpPr>
        <p:spPr>
          <a:xfrm>
            <a:off x="4855464" y="33832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Derivatives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55464" y="369417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gradient methods, GSS needs only function evaluations — ideal for noisy or non-smooth f.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92608" y="4535424"/>
            <a:ext cx="8558784" cy="27432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" y="4544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each iteration reduces [a,b] by factor φ ≈ 0.618 with only one new function evaluation per step.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Theory &amp; Algorithm: Golden Section Search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4206240" cy="4069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4206240" cy="36576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8869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048" y="1399032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" y="14081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bracket [a, b] on unimodal f(x).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4048" y="184708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" y="1856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x₁ = a + (1−φ)(b−a)  and  x₂ = a + φ(b−a)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84048" y="2295144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" y="2304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f(x₁) and f(x₂).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4048" y="274320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384048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" y="27523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f(x₁) &lt; f(x₂): new bracket = [a, x₂], reuse x₁ as new x₂.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84048" y="3191256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1"/>
          <p:cNvSpPr/>
          <p:nvPr/>
        </p:nvSpPr>
        <p:spPr>
          <a:xfrm>
            <a:off x="384048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9808" y="3200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Else: new bracket = [x₁, b], reuse x₂ as new x₁.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84048" y="3639312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" y="36484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|b − a| &lt; tolerance.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4048" y="408736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7"/>
          <p:cNvSpPr/>
          <p:nvPr/>
        </p:nvSpPr>
        <p:spPr>
          <a:xfrm>
            <a:off x="384048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49808" y="4096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≈ midpoint (a + b)/2.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681728" y="868680"/>
            <a:ext cx="4169664" cy="192024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773168" y="914400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773168" y="129844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 =  (√5 − 1) / 2  ≈  0.618034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773168" y="173736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 = a + (1−φ)(b−a)      x₂ = a + φ(b−a)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773168" y="2176272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after n steps: (b−a)·φⁿ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81728" y="2880360"/>
            <a:ext cx="4169664" cy="20574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4773168" y="2926080"/>
            <a:ext cx="3986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Narrowing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846320" y="3319272"/>
            <a:ext cx="3657600" cy="256032"/>
          </a:xfrm>
          <a:prstGeom prst="rect">
            <a:avLst/>
          </a:prstGeom>
          <a:solidFill>
            <a:srgbClr val="DBEAF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06947" y="3319272"/>
            <a:ext cx="7315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Shape 38"/>
          <p:cNvSpPr/>
          <p:nvPr/>
        </p:nvSpPr>
        <p:spPr>
          <a:xfrm>
            <a:off x="7070141" y="3319272"/>
            <a:ext cx="73152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2" name="Text 39"/>
          <p:cNvSpPr/>
          <p:nvPr/>
        </p:nvSpPr>
        <p:spPr>
          <a:xfrm>
            <a:off x="4773168" y="3593592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[a, b]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8503920" y="3721608"/>
            <a:ext cx="2852928" cy="256032"/>
          </a:xfrm>
          <a:prstGeom prst="rect">
            <a:avLst/>
          </a:prstGeom>
          <a:solidFill>
            <a:srgbClr val="DBEAF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557162" y="3721608"/>
            <a:ext cx="7315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5" name="Shape 42"/>
          <p:cNvSpPr/>
          <p:nvPr/>
        </p:nvSpPr>
        <p:spPr>
          <a:xfrm>
            <a:off x="10230454" y="3721608"/>
            <a:ext cx="73152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6" name="Text 43"/>
          <p:cNvSpPr/>
          <p:nvPr/>
        </p:nvSpPr>
        <p:spPr>
          <a:xfrm>
            <a:off x="4773168" y="399592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1356848" y="4123944"/>
            <a:ext cx="2084832" cy="256032"/>
          </a:xfrm>
          <a:prstGeom prst="rect">
            <a:avLst/>
          </a:prstGeom>
          <a:solidFill>
            <a:srgbClr val="DBEAF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2116678" y="4123944"/>
            <a:ext cx="7315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Shape 46"/>
          <p:cNvSpPr/>
          <p:nvPr/>
        </p:nvSpPr>
        <p:spPr>
          <a:xfrm>
            <a:off x="12608698" y="4123944"/>
            <a:ext cx="73152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0" name="Text 47"/>
          <p:cNvSpPr/>
          <p:nvPr/>
        </p:nvSpPr>
        <p:spPr>
          <a:xfrm>
            <a:off x="4773168" y="4398264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3441680" y="4526280"/>
            <a:ext cx="1536192" cy="256032"/>
          </a:xfrm>
          <a:prstGeom prst="rect">
            <a:avLst/>
          </a:prstGeom>
          <a:solidFill>
            <a:srgbClr val="DBEAFE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3991929" y="4526280"/>
            <a:ext cx="7315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3" name="Shape 50"/>
          <p:cNvSpPr/>
          <p:nvPr/>
        </p:nvSpPr>
        <p:spPr>
          <a:xfrm>
            <a:off x="14354471" y="4526280"/>
            <a:ext cx="73152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4" name="Text 51"/>
          <p:cNvSpPr/>
          <p:nvPr/>
        </p:nvSpPr>
        <p:spPr>
          <a:xfrm>
            <a:off x="4773168" y="4800600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3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773168" y="477316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x₁  ■ x₂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Practice Problem 1: Minimize f(x) = x² − 6x + 11  on [0, 5]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8558784" cy="43891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88696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minimum: f'(x)=2x−6=0 → x*=3, f(3)=2.  We verify with GSS.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389888"/>
          <a:ext cx="8558784" cy="2286000"/>
        </p:xfrm>
        <a:graphic>
          <a:graphicData uri="http://schemas.openxmlformats.org/drawingml/2006/table">
            <a:tbl>
              <a:tblPr/>
              <a:tblGrid>
                <a:gridCol w="548640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847088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x₁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x₂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f(x₁)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f(x₂)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1.9100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3.0900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3.1881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2.0081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right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1.9100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3.0904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3.8196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2.0082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2.6718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1.9100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3.8196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2.6395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3.0901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2.1300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2.0081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right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2.6395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3.8196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3.0903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3.3688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2.0082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2.1360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2.6395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3.3688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2.9181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3.0902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2.0067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2.0081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92608" y="3794760"/>
            <a:ext cx="8558784" cy="96012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38912" y="384048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Result: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iterations bracket ≈ [2.639, 3.090], midpoint ≈ 2.8648.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minimum x*=3.0000. Error = 0.135162. Interval reduced by factor φ⁵ ≈ 0.0901.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Practice Problem 2: Minimize f(x) = (x−2)² + 3  on [−1, 6]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8558784" cy="43891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88696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minimum: x*=2, f(2)=3.  Verify with Golden Section Search.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389888"/>
          <a:ext cx="8558784" cy="2286000"/>
        </p:xfrm>
        <a:graphic>
          <a:graphicData uri="http://schemas.openxmlformats.org/drawingml/2006/table">
            <a:tbl>
              <a:tblPr/>
              <a:tblGrid>
                <a:gridCol w="548640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847088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x₁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x₂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f(x₁)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f(x₂)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1.6740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3.3260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3.1063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4.7583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3.3260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0.6525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1.6735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4.8157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3.1066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right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0.6525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3.3260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1.6738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2.3047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3.1064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3.0929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right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1.6738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3.3260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2.3049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2.6949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3.0930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3.4828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1.6738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2.6949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2.0638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2.3048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3.0041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3.0929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keep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92608" y="3794760"/>
            <a:ext cx="8558784" cy="96012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38912" y="384048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Result: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after 5 iters ≈ 1.9893. True x*=2.0000. Error = 0.010695. Each step costs only 1 new function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Python Implementation: Golden Section Search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502920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978408"/>
            <a:ext cx="482803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as np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 as plt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as pd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gss(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f, a, b, tol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=1e-6):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phi = (5**0.5-1)/2  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0.618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[]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 = 0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b-a &gt; tol: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x1=a+(1-phi)*(b-a); x2=a+phi*(b-a)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f1,f2=f(x1),f(x2)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data.append([k,a,b,x1,x2,f1,f2])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f1&lt;f2: b=x2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a=x1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k+=1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(a+b)/2, pd.DataFrame(data,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columns=[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'k','a','b','x1','x2','f1','f2'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lambda x: (x-3)**2+1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xm, df = gss(f, 0, 6)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(df.to_string(index=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(f'Min at x={xm:.6f}')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468112" y="868680"/>
            <a:ext cx="338328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68112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5605272" y="978408"/>
            <a:ext cx="318211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Visualization ──────────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np.linspace(0,6,400)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ys = f(xs)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figsize=(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12,4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1: function + path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axes[0].plot(xs,ys,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'b-'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,lw=2)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mids = (df.a+df.b)/2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axes[0].plot(mids,f(mids),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'r--o'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,ms=5,label=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'GSS path'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axes[0].axvline(xm,c=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'gold'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,lw=2)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'GSS Convergence'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2: interval width vs iter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axes[1].semilogy(df.b-df.a,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'c-o'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,lw=2)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axes[1].set_title(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'Bracket Width'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
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292608" y="486460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Data Manipulation — numpy + pandas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68112" y="4864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Visualization — matplotlib subplots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Interactive Website: GSS Dynamic Visualizer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512064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978408"/>
            <a:ext cx="491947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CDN imports --&gt;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"https://cdn.plot.ly/plotly-latest.min.js"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&gt;&lt;/script&gt;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"controls"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&gt;f(x): &lt;input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"fn"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"(x-3)**2+1"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&gt;&lt;/label&gt;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&gt;a: &lt;input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&gt;&lt;/label&gt;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&gt;b: &lt;input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&gt;&lt;/label&gt;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"run()"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&gt;▶ Animate&lt;/button&gt;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
</a:t>
            </a:r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id="chart"&gt;&lt;/div&gt;
</a:t>
            </a:r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id="table"&gt;&lt;/div&gt;
</a:t>
            </a:r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gss(f,a,b){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phi=(Math.sqrt(5)-1)/2;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frames=[],iters=[];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(b-a&gt;1e-5){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x1=a+(1-phi)*(b-a),x2=a+phi*(b-a);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(f(x1)&lt;f(x2))b=x2; 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a=x1;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frames.push({a,b,x1,x2});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animatePlotly(frames);  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Plotly animation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559552" y="868680"/>
            <a:ext cx="3291840" cy="40690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59552" y="868680"/>
            <a:ext cx="3291840" cy="38404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3" name="Text 10"/>
          <p:cNvSpPr/>
          <p:nvPr/>
        </p:nvSpPr>
        <p:spPr>
          <a:xfrm>
            <a:off x="5650992" y="886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Features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32704" y="1380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16752" y="1380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f(x) Input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16752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unimodal function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32704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16752" y="1883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[a,b] Sliders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016752" y="2084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set search range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32704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16752" y="2386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Animation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16752" y="2587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bracket shrink step-by-step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32704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16752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Plotly Chart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016752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+ x₁ x₂ markers update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32704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016752" y="3392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Table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016752" y="3593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per-step table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32704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📏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016752" y="3895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Width Log Plot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016752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linear convergence rate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Applications of Golden Section Search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886968"/>
            <a:ext cx="2816352" cy="47548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Structural Engineering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beam cross-section thickness or cable tension to minimize structural weight while meeting load constraints. Single-variable, bounded — perfect for GSS.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886968"/>
            <a:ext cx="2816352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3264408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Optical Systems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64408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optimal focal length or lens position that minimizes blur/aberration. Unimodal response curve over a bounded range.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17336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17336" y="886968"/>
            <a:ext cx="2816352" cy="47548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8" name="Text 15"/>
          <p:cNvSpPr/>
          <p:nvPr/>
        </p:nvSpPr>
        <p:spPr>
          <a:xfrm>
            <a:off x="6208776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 Process Engineering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temperature or reaction time optimization where conversion rate has a unimodal profile — minimize cost of production per unit.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" y="2898648"/>
            <a:ext cx="2816352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Line Search (Sub-routine)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GSS serves as the exact line-search inside gradient/Newton methods: for each search direction d, find α* = argminₐ f(x + α·d).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72968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172968" y="2898648"/>
            <a:ext cx="2816352" cy="47548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6" name="Text 23"/>
          <p:cNvSpPr/>
          <p:nvPr/>
        </p:nvSpPr>
        <p:spPr>
          <a:xfrm>
            <a:off x="3264408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Pharmacokinetics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64408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peak drug concentration timing (Tmax) by searching over absorption/elimination curves — unimodal and bounded.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17336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17336" y="2898648"/>
            <a:ext cx="2816352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7"/>
          <p:cNvSpPr/>
          <p:nvPr/>
        </p:nvSpPr>
        <p:spPr>
          <a:xfrm>
            <a:off x="6208776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 Control Systems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08776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 single PID controller gain parameter (Kp, Ki, or Kd) to minimize steady-state error within safe bounds.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Why Golden Section Search? Advantages &amp; Uniqueness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886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can't do — GSS solves this: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74320" y="1316736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316736"/>
            <a:ext cx="64008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🚫∂ Zero Derivatives Needed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" y="1682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and Newton's method both fail if f is non-smooth or noisy. GSS requires only function evaluations — works on any continuous unimodal f.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4709160" y="1316736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16736"/>
            <a:ext cx="64008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4855464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Provably Optimal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55464" y="1682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Kiefer (1953) proved no sequential search algorithm can reduce the interval faster using the same number of evaluations. It is the theoretical best.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274320" y="2487168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487168"/>
            <a:ext cx="64008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Guaranteed Convergence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0624" y="2852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bracket always shrinks by factor φ per iteration. No learning-rate tuning, no step-size oscillation — deterministic and reliable.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709160" y="2487168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487168"/>
            <a:ext cx="64008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4855464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Minimal Memory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55464" y="2852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only a, b, x₁, x₂, and two function values. Constant O(1) memory regardless of problem size.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74320" y="3657600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657600"/>
            <a:ext cx="64008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4"/>
          <p:cNvSpPr/>
          <p:nvPr/>
        </p:nvSpPr>
        <p:spPr>
          <a:xfrm>
            <a:off x="420624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One Reuse Per Step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0624" y="4023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bisection which discards both interior points, GSS cleverly reuses one point, halving function evaluation cost per step.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4709160" y="3657600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3657600"/>
            <a:ext cx="64008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8"/>
          <p:cNvSpPr/>
          <p:nvPr/>
        </p:nvSpPr>
        <p:spPr>
          <a:xfrm>
            <a:off x="4855464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Robust to Noise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55464" y="4023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never divides by derivatives, it tolerates moderate measurement noise in f(x) — vital in experimental/physical settings.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Limitations of Golden Section Search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91440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1D Only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316736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GSS works strictly on single-variable functions. It cannot directly handle multivariate optimization (n≥2 variables). Extensions require alternating or coordinate search.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914400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91440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Unimodal Requirement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1316736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must have exactly one minimum on [a, b]. Multimodal functions will trap GSS in a local valley, giving wrong results.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2267712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267712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2359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Bounds Must Be Known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" y="2670048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bracket [a, b] must be specified in advance. If the minimum lies outside this range, GSS will fail entirely.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2267712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2267712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2359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Linear Convergence Only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46320" y="2670048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GSS converges linearly at rate φ≈0.618. For high-precision requirements, it needs many more iterations than Newton's quadratic method.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3621024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621024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37124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Gradient Information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" y="4023360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gradient IS available, methods like gradient descent or Newton's method converge faster. GSS wastes derivative information.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709160" y="3621024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09160" y="3621024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37124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Fixed Reduction Factor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46320" y="4023360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contraction ratio φ cannot be improved without violating optimality. It is fundamentally slower than gradient-based methods near the optimum.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4681728"/>
            <a:ext cx="8595360" cy="24688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33" name="Text 30"/>
          <p:cNvSpPr/>
          <p:nvPr/>
        </p:nvSpPr>
        <p:spPr>
          <a:xfrm>
            <a:off x="384048" y="468172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motivate Gradient Descent and Newton's Method covered in Parts 2 &amp; 3.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Suggestions to Overcome Limitations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68680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86868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" y="96012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Multivariate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6384" y="1252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Nelder-Mead simplex search or coordinate descent — apply GSS iteratively along each axis for separable functions.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868680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868680"/>
            <a:ext cx="64008" cy="123444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6" name="Shape 13"/>
          <p:cNvSpPr/>
          <p:nvPr/>
        </p:nvSpPr>
        <p:spPr>
          <a:xfrm>
            <a:off x="4846320" y="960120"/>
            <a:ext cx="292608" cy="292608"/>
          </a:xfrm>
          <a:prstGeom prst="ellipse">
            <a:avLst/>
          </a:prstGeom>
          <a:solidFill>
            <a:srgbClr val="005F73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21224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Multimodal f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21224" y="1252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global search: run simulated annealing or genetic algorithm to identify unimodal sub-intervals, then apply GSS in each.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" y="2221992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221992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19"/>
          <p:cNvSpPr/>
          <p:nvPr/>
        </p:nvSpPr>
        <p:spPr>
          <a:xfrm>
            <a:off x="411480" y="2313432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86384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Finding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6384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 with a coarse scan (evaluate f at a grid of points) to locate a unimodal sub-interval automatically before calling GSS.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09160" y="2221992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221992"/>
            <a:ext cx="64008" cy="123444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8" name="Shape 25"/>
          <p:cNvSpPr/>
          <p:nvPr/>
        </p:nvSpPr>
        <p:spPr>
          <a:xfrm>
            <a:off x="4846320" y="2313432"/>
            <a:ext cx="292608" cy="292608"/>
          </a:xfrm>
          <a:prstGeom prst="ellipse">
            <a:avLst/>
          </a:prstGeom>
          <a:solidFill>
            <a:srgbClr val="005F73"/>
          </a:solidFill>
          <a:ln/>
        </p:spPr>
      </p:sp>
      <p:sp>
        <p:nvSpPr>
          <p:cNvPr id="29" name="Text 26"/>
          <p:cNvSpPr/>
          <p:nvPr/>
        </p:nvSpPr>
        <p:spPr>
          <a:xfrm>
            <a:off x="484632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221224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Convergence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221224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GSS narrows the interval sufficiently, switch to Newton's method (using finite-difference derivatives) for quadratic final convergence.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3575304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575304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Shape 31"/>
          <p:cNvSpPr/>
          <p:nvPr/>
        </p:nvSpPr>
        <p:spPr>
          <a:xfrm>
            <a:off x="411480" y="3666744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2"/>
          <p:cNvSpPr/>
          <p:nvPr/>
        </p:nvSpPr>
        <p:spPr>
          <a:xfrm>
            <a:off x="41148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86384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GSS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86384" y="39593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expensive f evaluations, compute x₁ and x₂ in parallel — halves wall-clock time per iteration on multi-core systems.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09160" y="3575304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09160" y="3575304"/>
            <a:ext cx="64008" cy="1234440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40" name="Shape 37"/>
          <p:cNvSpPr/>
          <p:nvPr/>
        </p:nvSpPr>
        <p:spPr>
          <a:xfrm>
            <a:off x="4846320" y="3666744"/>
            <a:ext cx="292608" cy="292608"/>
          </a:xfrm>
          <a:prstGeom prst="ellipse">
            <a:avLst/>
          </a:prstGeom>
          <a:solidFill>
            <a:srgbClr val="005F73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221224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Tolerance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221224" y="39593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relative tolerance |b−a|/|a+b| instead of absolute — ensures robust termination for problems at different scales.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32004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411480" y="3200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iterative optimization: xₙ₊₁ = xₙ − α·∇f(xₙ)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∇f(x*) = 0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Introduction &amp; Background: Gradient Descent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868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Gradient Descent?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20040" y="126187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first-order optimization algorithm that moves in the direction of steepest descent (negative gradient) to minimize a differentiable function. Introduced by Augustin-Louis Cauchy in 1847.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" y="187452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1874520"/>
            <a:ext cx="64008" cy="1298448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" y="19659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27685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xₙ₊₁ = xₙ − α · ∇f(xₙ)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learning rate, ∇f = gradient vector.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18304" y="187452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18304" y="1874520"/>
            <a:ext cx="64008" cy="12984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/>
          <p:nvPr/>
        </p:nvSpPr>
        <p:spPr>
          <a:xfrm>
            <a:off x="4855464" y="19659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Intuition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55464" y="227685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∇f(x) points uphill. Moving −∇f(x) takes us downhill — toward the minimum.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92608" y="329184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92608" y="3291840"/>
            <a:ext cx="64008" cy="1298448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20" name="Text 17"/>
          <p:cNvSpPr/>
          <p:nvPr/>
        </p:nvSpPr>
        <p:spPr>
          <a:xfrm>
            <a:off x="429768" y="33832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α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29768" y="369417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→ diverge. Too small → slow. Optimal α balances speed and stability.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18304" y="329184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18304" y="3291840"/>
            <a:ext cx="64008" cy="12984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4" name="Text 21"/>
          <p:cNvSpPr/>
          <p:nvPr/>
        </p:nvSpPr>
        <p:spPr>
          <a:xfrm>
            <a:off x="4855464" y="33832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55464" y="369417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to a local minimum for smooth f. For convex f, global minimum guaranteed.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92608" y="4535424"/>
            <a:ext cx="8558784" cy="2743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" y="4544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B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note: Cauchy (1847) → steepest descent. Modern deep learning (1980s–now) runs GD on billions of parameters.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Theory &amp; Algorithm: Gradient Descent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4206240" cy="4069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420624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8869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B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048" y="1408176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" y="1408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" y="14173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starting point x₀ and learning rate α.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4048" y="1975104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" y="19842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 ∇f(xₙ) at current point.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84048" y="2542032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" y="25511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xₙ₊₁ = xₙ − α · ∇f(xₙ).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4048" y="3108960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21" name="Text 18"/>
          <p:cNvSpPr/>
          <p:nvPr/>
        </p:nvSpPr>
        <p:spPr>
          <a:xfrm>
            <a:off x="384048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" y="31181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convergence: |∇f(xₙ)| &lt; ε  or  |f change| &lt; ε.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84048" y="3675888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24" name="Text 21"/>
          <p:cNvSpPr/>
          <p:nvPr/>
        </p:nvSpPr>
        <p:spPr>
          <a:xfrm>
            <a:off x="384048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9808" y="36850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 or max iterations reached.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84048" y="4242816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" y="4251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xₙ as approximate minimizer.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81728" y="868680"/>
            <a:ext cx="4169664" cy="164592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773168" y="9144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B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773168" y="1252728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 =  xₙ  −  α · ∇f(xₙ)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773168" y="1709928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O(ρⁿ) where ρ = 1 − αμ  (linear rate)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81728" y="2633472"/>
            <a:ext cx="4169664" cy="230428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773168" y="267919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α Effect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800600" y="3099816"/>
            <a:ext cx="1371600" cy="32918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36" name="Text 33"/>
          <p:cNvSpPr/>
          <p:nvPr/>
        </p:nvSpPr>
        <p:spPr>
          <a:xfrm>
            <a:off x="4800600" y="3099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too small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291072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iterations needed, very slow.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00600" y="3694176"/>
            <a:ext cx="1371600" cy="329184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39" name="Text 36"/>
          <p:cNvSpPr/>
          <p:nvPr/>
        </p:nvSpPr>
        <p:spPr>
          <a:xfrm>
            <a:off x="4800600" y="36941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optimal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291072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steady convergence in few steps.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800600" y="4288536"/>
            <a:ext cx="1371600" cy="32918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2" name="Text 39"/>
          <p:cNvSpPr/>
          <p:nvPr/>
        </p:nvSpPr>
        <p:spPr>
          <a:xfrm>
            <a:off x="4800600" y="42885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too large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291072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 minimum, oscillates, may diverge.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Practice Problem 1: Minimize f(x) = x² − 4x + 5,  α=0.3, x₀=0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855878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886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f'(x) = 2x − 4.  Update: xₙ₊₁ = xₙ − 0.3·(2xₙ−4).  Exact minimum: x*=2, f(2)=1.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371600"/>
          <a:ext cx="8558784" cy="2423160"/>
        </p:xfrm>
        <a:graphic>
          <a:graphicData uri="http://schemas.openxmlformats.org/drawingml/2006/table">
            <a:tbl>
              <a:tblPr/>
              <a:tblGrid>
                <a:gridCol w="594360"/>
                <a:gridCol w="1417320"/>
                <a:gridCol w="1417320"/>
                <a:gridCol w="1417320"/>
                <a:gridCol w="1417320"/>
                <a:gridCol w="1380744"/>
              </a:tblGrid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xₙ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xₙ₊₁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|f'|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1.640000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-1.600000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1.680000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1.680000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1.102400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-0.640000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1.872000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0.640000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1.872000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1.016384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-0.256000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1.948800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0.256000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1.948800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1.002621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-0.102400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1.979520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0.102400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1.979520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1.000419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-0.040960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1.991808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0.040960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1.991808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1.000067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-0.016384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1.996723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0.016384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92608" y="3913632"/>
            <a:ext cx="8558784" cy="86868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38912" y="3959352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Result: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smoothly to x*=2.000000. After 6 steps |f'|&lt;0.01. Learning rate α=0.3 is well-chosen: update factor = 1−2α = 0.4, so each step reduces error by 60%.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Practice Problem 2: Minimize f(x,y) = x² + 4y²,  α=0.1, (x₀,y₀)=(4,3)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855878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886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∇f = (2x, 8y).  Update: x←x−0.1·2x,  y←y−0.1·8y.  Minimum: (0,0).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371600"/>
          <a:ext cx="8558784" cy="2423160"/>
        </p:xfrm>
        <a:graphic>
          <a:graphicData uri="http://schemas.openxmlformats.org/drawingml/2006/table">
            <a:tbl>
              <a:tblPr/>
              <a:tblGrid>
                <a:gridCol w="594360"/>
                <a:gridCol w="1188720"/>
                <a:gridCol w="1188720"/>
                <a:gridCol w="1691640"/>
                <a:gridCol w="1581912"/>
                <a:gridCol w="1581912"/>
              </a:tblGrid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xₙ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yₙ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f(xₙ,yₙ)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∂f/∂x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∂f/∂y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11.6800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6.4000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4.8000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2.5600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6.6112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5.1200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2.0480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0.0240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4.1966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4.0960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0.1920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1.6384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0.0048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2.6844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3.2768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0.0384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1.3107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0.0010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1.7180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2.6214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0.0077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1.0486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1.0995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2.0972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0.0015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92608" y="3913632"/>
            <a:ext cx="8558784" cy="86868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38912" y="3959352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 Insight: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converges faster (rate 1−0.8=0.2 per step) than x (rate 1−0.2=0.8). This is ill-conditioning — f is elongated along y. In practice, this motivates preconditioning or Adam optimizer.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Python Implementation: Gradient Descent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502920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978408"/>
            <a:ext cx="482803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as np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as pd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 as plt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gradient_descent(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f, grad_f, x0,
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alpha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=0.1, 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=1e-6, 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=1000):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np.array(x0, dtype=float)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 = []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in range(max_iter):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 = grad_f(x)         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gradient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history.append(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[k, float(x.flat[0]),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float(f(x)), np.linalg.norm(g)])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np.linalg.norm(g) &lt; tol: break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 - alpha * g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pd.DataFrame(history,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columns=[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'iter','x','f(x)','|grad|'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df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1D example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= lambda x: x**2 - 4*x + 5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lambda x: np.array([2*x[0]-4])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x_opt, log = gradient_descent(f, df, [0.], alpha=0.3)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(log.to_string(index=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468112" y="868680"/>
            <a:ext cx="338328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68112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5605272" y="978408"/>
            <a:ext cx="318211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Visualization ─────────────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np.linspace(-1,5,300)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ys = f(np.array([[x] for x in xs]))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figsize=(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12,4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Left: convergence path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axes[0].plot(xs, ys, lw=2)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axes[0].plot(log[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'f(x)'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'ro--'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,ms=5)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'GD Path'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Right: gradient norm log plot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axes[1].semilogy(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'|grad|'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'g-o'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,lw=2)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axes[1].set_title(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'|Gradient| vs Iter'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
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292608" y="486460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Data Manipulation — numpy arrays + pandas DataFrame log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68112" y="4864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Visualization — dual matplotlib subplots (path + log |grad|)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Interactive Website: Gradient Descent Visualizer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512064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978408"/>
            <a:ext cx="491947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"plotly-latest.min.js"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&gt;&lt;/script&gt;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"mathjs.min.js"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&gt;&lt;/script&gt;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Controls --&gt;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"expr"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placeholder=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"x^2-4*x+5"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"alpha"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"range"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min=0.01 max=0.5 step=0.01&gt;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"x0"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"animate()"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&gt;▶ Run GD&lt;/button&gt;
</a:t>
            </a:r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animate(){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expr=document.getElementById(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'expr'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).value;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alpha=+document.getElementById(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'alpha'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).value;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f=math.compile(expr);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df=x=&gt;math.derivative(expr,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).evaluate({x});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x=+document.getElementById(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'x0'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).value;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frames=[],xs=[],ys=[];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(let i=0;i&lt;80;i++){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xs.push(x); ys.push(f.evaluate({x}));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x-=alpha*df(x);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Plotly.animate(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'chart'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buildFrames(xs,ys));
</a:t>
            </a:r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559552" y="868680"/>
            <a:ext cx="3291840" cy="40690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59552" y="868680"/>
            <a:ext cx="3291840" cy="3840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5650992" y="886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B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Features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32704" y="1380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16752" y="1380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Expression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16752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math.js for symbolic derivative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32704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🎚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16752" y="1883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Slider (0.01–0.5)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016752" y="2084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convergence change live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32704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16752" y="2386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 Animation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16752" y="2587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animated scatter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32704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16752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Plot (2D mode)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016752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path on f(x,y) surface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32704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016752" y="3392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Iteration Table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016752" y="3593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frame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32704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⬇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016752" y="3895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016752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full iteration log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Applications of Gradient Descent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886968"/>
            <a:ext cx="2816352" cy="47548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Deep Learning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all modern neural networks (GPT, ResNet, BERT). GD minimizes cross-entropy or MSE loss over millions of parameters via backpropagation.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886968"/>
            <a:ext cx="2816352" cy="475488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4" name="Text 11"/>
          <p:cNvSpPr/>
          <p:nvPr/>
        </p:nvSpPr>
        <p:spPr>
          <a:xfrm>
            <a:off x="3264408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Logistic Regression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64408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classification boundaries by minimizing log-loss. GD updates weight vector iteratively — the backbone of supervised learning.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17336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17336" y="886968"/>
            <a:ext cx="2816352" cy="47548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8" name="Text 15"/>
          <p:cNvSpPr/>
          <p:nvPr/>
        </p:nvSpPr>
        <p:spPr>
          <a:xfrm>
            <a:off x="6208776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Computer Vision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CNNs for image recognition, segmentation, and generation (GANs). Adam (GD variant) is standard in every vision pipeline.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" y="2898648"/>
            <a:ext cx="2816352" cy="475488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Recommendation Systems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for Netflix/Spotify: minimize squared error between predicted and actual ratings using stochastic GD.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72968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172968" y="2898648"/>
            <a:ext cx="2816352" cy="47548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6" name="Text 23"/>
          <p:cNvSpPr/>
          <p:nvPr/>
        </p:nvSpPr>
        <p:spPr>
          <a:xfrm>
            <a:off x="3264408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Robotics &amp; RL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64408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 methods (REINFORCE, PPO) use GD on expected reward. Trains robot controllers and game-playing agents.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17336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17336" y="2898648"/>
            <a:ext cx="2816352" cy="475488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30" name="Text 27"/>
          <p:cNvSpPr/>
          <p:nvPr/>
        </p:nvSpPr>
        <p:spPr>
          <a:xfrm>
            <a:off x="6208776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Finance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08776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Black-Scholes models, training stock price predictors, and fitting risk models — all via GD on large financial datasets.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Why Gradient Descent? Advantages &amp; Uniqueness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886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can't do — GD uniquely delivers: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74320" y="1316736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316736"/>
            <a:ext cx="64008" cy="1078992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Scales to Millions of Variables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" y="1682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GSS is limited to 1D; Newton's Hessian costs O(n²). GD with O(n) gradient only — scales to billion-parameter neural networks.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4709160" y="1316736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16736"/>
            <a:ext cx="64008" cy="1078992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5" name="Text 12"/>
          <p:cNvSpPr/>
          <p:nvPr/>
        </p:nvSpPr>
        <p:spPr>
          <a:xfrm>
            <a:off x="4855464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Works on Non-Convex Surfaces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55464" y="1682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GD finds good local minima on deep network loss surfaces — enabling AI that no other optimization family achieves.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274320" y="2487168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487168"/>
            <a:ext cx="64008" cy="1078992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Rich Ecosystem of Variants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0624" y="2852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RMSProp, Adagrad, Momentum, LARS — each extends GD with adaptive rates. No other method family has this diversity.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709160" y="2487168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487168"/>
            <a:ext cx="64008" cy="1078992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23" name="Text 20"/>
          <p:cNvSpPr/>
          <p:nvPr/>
        </p:nvSpPr>
        <p:spPr>
          <a:xfrm>
            <a:off x="4855464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GPU Parallelizable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55464" y="2852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computation (backprop) maps naturally to matrix ops on GPUs — enables training at industrial scale in hours.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74320" y="3657600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657600"/>
            <a:ext cx="64008" cy="1078992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27" name="Text 24"/>
          <p:cNvSpPr/>
          <p:nvPr/>
        </p:nvSpPr>
        <p:spPr>
          <a:xfrm>
            <a:off x="420624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Online / Streaming Learning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0624" y="4023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GD updates on single samples — can learn from data streams without storing the full dataset (impossible for Newton/GSS).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4709160" y="3657600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3657600"/>
            <a:ext cx="64008" cy="1078992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31" name="Text 28"/>
          <p:cNvSpPr/>
          <p:nvPr/>
        </p:nvSpPr>
        <p:spPr>
          <a:xfrm>
            <a:off x="4855464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Framework Support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55464" y="4023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TensorFlow, JAX — all built around automatic differentiation + GD. Unmatched tooling support.</a:t>
            </a:r>
            <a:endParaRPr lang="en-US" sz="10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Limitations of Gradient Descent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914400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Local Minima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316736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only guarantees convergence to a local minimum. On non-convex surfaces it can get trapped in poor basins far from the global optimum.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914400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914400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Learning Rate Sensitivity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1316736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tuning of α. Too high diverges; too low wastes computation. Adaptive methods (Adam) partially solve this.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2267712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267712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2359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Slow on Ill-Conditioned Problems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" y="2670048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condition number κ = λₘₐₓ/λₘᵢₙ is large, GD zigzags and converges extremely slowly. Newton's method handles this naturally.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2267712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2267712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2359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Differentiability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46320" y="2670048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must have a usable gradient. Discontinuous or noisy functions (e.g., discrete optimization) break pure GD.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3621024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621024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37124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Flat Regions / Saddle Points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" y="4023360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saddle points, ∇f≈0 but no minimum — GD stalls. Momentum and adaptive methods help escape, but not guaranteed.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709160" y="3621024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09160" y="3621024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37124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Vanishing/Exploding Gradients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46320" y="4023360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deep networks, gradients can decay (vanish) or grow (explode) exponentially with depth — destabilizing training.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4681728"/>
            <a:ext cx="8595360" cy="24688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3" name="Text 30"/>
          <p:cNvSpPr/>
          <p:nvPr/>
        </p:nvSpPr>
        <p:spPr>
          <a:xfrm>
            <a:off x="384048" y="468172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 (Part 3) addresses ill-conditioning via the Hessian — achieving quadratic convergence.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Suggestions to Overcome Limitations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68680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868680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" y="960120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Adam / AdaGrad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6384" y="1252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rates per parameter. Adam = momentum + RMSProp — standard choice for deep learning, eliminates manual α tuning.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868680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868680"/>
            <a:ext cx="64008" cy="12344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Shape 13"/>
          <p:cNvSpPr/>
          <p:nvPr/>
        </p:nvSpPr>
        <p:spPr>
          <a:xfrm>
            <a:off x="4846320" y="960120"/>
            <a:ext cx="292608" cy="2926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21224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Momentum-Based GD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21224" y="1252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velocity term: vₙ₊₁=βvₙ+α∇f, xₙ₊₁=xₙ−vₙ₊₁. Escapes flat regions and reduces zigzagging on elongated loss surfaces.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" y="2221992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221992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22" name="Shape 19"/>
          <p:cNvSpPr/>
          <p:nvPr/>
        </p:nvSpPr>
        <p:spPr>
          <a:xfrm>
            <a:off x="411480" y="2313432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86384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6384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gradient norm to threshold τ before update. Prevents exploding gradients in deep RNNs and transformers.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09160" y="2221992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221992"/>
            <a:ext cx="64008" cy="12344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8" name="Shape 25"/>
          <p:cNvSpPr/>
          <p:nvPr/>
        </p:nvSpPr>
        <p:spPr>
          <a:xfrm>
            <a:off x="4846320" y="2313432"/>
            <a:ext cx="292608" cy="2926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6"/>
          <p:cNvSpPr/>
          <p:nvPr/>
        </p:nvSpPr>
        <p:spPr>
          <a:xfrm>
            <a:off x="484632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221224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221224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α over time (cosine, step, exponential). Large α early (explore) → small α later (fine-tune) improves final accuracy.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3575304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575304"/>
            <a:ext cx="64008" cy="123444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34" name="Shape 31"/>
          <p:cNvSpPr/>
          <p:nvPr/>
        </p:nvSpPr>
        <p:spPr>
          <a:xfrm>
            <a:off x="411480" y="3666744"/>
            <a:ext cx="292608" cy="29260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35" name="Text 32"/>
          <p:cNvSpPr/>
          <p:nvPr/>
        </p:nvSpPr>
        <p:spPr>
          <a:xfrm>
            <a:off x="41148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86384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Preconditioning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86384" y="39593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variables so Hessian ≈ Identity (unit condition number). Batch normalization in neural networks achieves this implicitly.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09160" y="3575304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09160" y="3575304"/>
            <a:ext cx="64008" cy="12344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0" name="Shape 37"/>
          <p:cNvSpPr/>
          <p:nvPr/>
        </p:nvSpPr>
        <p:spPr>
          <a:xfrm>
            <a:off x="4846320" y="3666744"/>
            <a:ext cx="292608" cy="2926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221224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Restarts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221224" y="39593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GD from diverse x₀ values and take the best result — probabilistically avoids poor local minima on multimodal surfaces.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32004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411480" y="3200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optimization: xₙ₊₁ = xₙ − [H(xₙ)]⁻¹ · ∇f(xₙ)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∇f(x*) = 0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Introduction &amp; Background: Newton's Method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868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Newton's Method for Optimization?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20040" y="126187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second-order optimization method that uses both the gradient and the Hessian (matrix of second derivatives) to compute a direct step toward the minimum. Achieves quadratic convergence — the fastest of the three methods.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" y="187452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1874520"/>
            <a:ext cx="64008" cy="12984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" y="19659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 (nD)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27685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xₙ₊₁ = xₙ − [H(xₙ)]⁻¹·∇f(xₙ)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matrix of second partial derivatives.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18304" y="187452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18304" y="1874520"/>
            <a:ext cx="64008" cy="12984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4855464" y="19659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Special Case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55464" y="227685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xₙ₊₁ = xₙ − f'(xₙ)/f''(xₙ)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gradient by curvature — natural step size.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92608" y="329184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92608" y="3291840"/>
            <a:ext cx="64008" cy="12984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7"/>
          <p:cNvSpPr/>
          <p:nvPr/>
        </p:nvSpPr>
        <p:spPr>
          <a:xfrm>
            <a:off x="429768" y="33832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29768" y="369417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Hᵢⱼ = ∂²f/∂xᵢ∂xⱼ. Captures curvature in all directions. n×n matrix for n variables.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18304" y="3291840"/>
            <a:ext cx="4224528" cy="12984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18304" y="3291840"/>
            <a:ext cx="64008" cy="12984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4" name="Text 21"/>
          <p:cNvSpPr/>
          <p:nvPr/>
        </p:nvSpPr>
        <p:spPr>
          <a:xfrm>
            <a:off x="4855464" y="33832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55464" y="3694176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convergence near the optimum: errors eₙ₊₁ ≈ C·eₙ². Typically 3–6 iterations.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92608" y="4535424"/>
            <a:ext cx="8558784" cy="274320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" y="4544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Isaac Newton (1669) and Joseph Raphson. Originally for root-finding; adapted to optimization by setting f'(x)=0.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Theory &amp; Algorithm: Newton's Method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4206240" cy="4069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4206240" cy="365760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8869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048" y="1408176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" y="1408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" y="14173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x₀ near the suspected minimum.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4048" y="1975104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" y="19842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 ∇f(xₙ) and Hessian H(xₙ).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84048" y="2542032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" y="25511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linear system: H(xₙ)·d = ∇f(xₙ) for direction d.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4048" y="3108960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8"/>
          <p:cNvSpPr/>
          <p:nvPr/>
        </p:nvSpPr>
        <p:spPr>
          <a:xfrm>
            <a:off x="384048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" y="31181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xₙ₊₁ = xₙ − d  (Newton step).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84048" y="3675888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1"/>
          <p:cNvSpPr/>
          <p:nvPr/>
        </p:nvSpPr>
        <p:spPr>
          <a:xfrm>
            <a:off x="384048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9808" y="36850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convergence: |∇f| &lt; ε  or  |d| &lt; ε.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84048" y="4242816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" y="4251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typically converges in 3–6 iterations.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81728" y="868680"/>
            <a:ext cx="4169664" cy="192024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773168" y="9144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773168" y="1252728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 =  xₙ  −  H⁻¹∇f(xₙ)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773168" y="1709928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1D:  xₙ₊₁ = xₙ − f'(xₙ)/f''(xₙ)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773168" y="2084832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convergence: eₙ₊₁ = O(eₙ²)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681728" y="2880360"/>
            <a:ext cx="4169664" cy="20574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773168" y="29260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Comparison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273552"/>
          <a:ext cx="3931920" cy="16002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9144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(φⁿ)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(ρⁿ)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Newton's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(ρ²ⁿ)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Practice Problem 1: Minimize f(x) = x³ − 6x² + 9x + 1,  x₀=5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8558784" cy="420624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886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f'(x)=3x²−12x+9,  f''(x)=6x−12.  Update: xₙ₊₁=xₙ−f'(xₙ)/f''(xₙ).  Critical point at x=3 (minimum).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371600"/>
          <a:ext cx="8558784" cy="2331720"/>
        </p:xfrm>
        <a:graphic>
          <a:graphicData uri="http://schemas.openxmlformats.org/drawingml/2006/table">
            <a:tbl>
              <a:tblPr/>
              <a:tblGrid>
                <a:gridCol w="548640"/>
                <a:gridCol w="1481328"/>
                <a:gridCol w="1234440"/>
                <a:gridCol w="1234440"/>
                <a:gridCol w="1234440"/>
                <a:gridCol w="1545336"/>
              </a:tblGrid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xₙ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f''(xₙ)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xₙ₊₁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5.00000000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3.66666667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3.66666667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2.629630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5.333333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3.13333333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3.13333333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1.055704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0.853333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6.800000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3.00784314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3.00784314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1.000185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0.047243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6.047059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3.00003052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3.00003052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0.000183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6.000183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92608" y="3822192"/>
            <a:ext cx="8558784" cy="96012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38912" y="386791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Quadratic Convergence: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at step 1: |x₁−3| ≈ 1.6667. By step 3 error &lt; 10⁻¹⁰. Converges in 3 steps vs. 30+ for GD — the power of using the Hessian.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Practice Problem 2: Minimize f(x) = eˣ − 4x,  x₀=3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8558784" cy="420624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886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f'(x)=eˣ−4,  f''(x)=eˣ.  Update: xₙ₊₁=xₙ−(eˣ−4)/eˣ = xₙ−1+4e⁻ˣ.  x*=ln(4)≈1.3863.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371600"/>
          <a:ext cx="8558784" cy="2331720"/>
        </p:xfrm>
        <a:graphic>
          <a:graphicData uri="http://schemas.openxmlformats.org/drawingml/2006/table">
            <a:tbl>
              <a:tblPr/>
              <a:tblGrid>
                <a:gridCol w="548640"/>
                <a:gridCol w="1481328"/>
                <a:gridCol w="1143000"/>
                <a:gridCol w="1143000"/>
                <a:gridCol w="1143000"/>
                <a:gridCol w="1728216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xₙ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f''(xₙ)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 |xₙ−x*|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00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3.00000000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8.085537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16.085537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20.085537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1.6137e+0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2.19914827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0.220737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5.017330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9.017330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8.1285e-1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1.64273856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-1.401648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1.169307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5.169307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2.5644e-1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1.41653673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-1.543330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0.122817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4.122817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3.0242e-2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1.38674709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-1.545177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0.001811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4.001811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4.5273e-4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1.38629446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-1.545177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1.0246e-7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92608" y="3822192"/>
            <a:ext cx="8558784" cy="960120"/>
          </a:xfrm>
          <a:prstGeom prst="rect">
            <a:avLst/>
          </a:prstGeom>
          <a:solidFill>
            <a:srgbClr val="0D1F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38912" y="386791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Quadratic Convergence Verified: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halves, then halves squared each step — the hallmark of quadratic convergence. x*=ln(4)≈1.38629436 reached to machine precision in 5 steps.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Python Implementation: Newton's Method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502920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978408"/>
            <a:ext cx="482803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as np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as pd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 as plt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newton_opt(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f, grad_f, hess_f, x0,
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tol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=1e-10, 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=50):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np.array(x0, dtype=float)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 = []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in range(max_iter):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 = grad_f(x)   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gradient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= hess_f(x)   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Hessian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 = np.linalg.solve(H, g) 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H·d=g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 = np.linalg.norm(g)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history.append([k,float(x.flat[0]),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float(f(x)), float(err)])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 &lt; tol: break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 - d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x, pd.DataFrame(history,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columns=[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'k','x','f(x)','|grad|'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1D example: f(x) = exp(x) - 4x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= lambda x: np.exp(x[0]) - 4*x[0]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 = lambda x: np.array([np.exp(x[0])-4])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hf = lambda x: np.array([[np.exp(x[0])]])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xo, log = newton_opt(f, gf, hf, [3.0])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(log.to_string(index=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468112" y="868680"/>
            <a:ext cx="338328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68112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5605272" y="978408"/>
            <a:ext cx="318211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Visualization ─────────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np.linspace(0,4,300)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ys = np.exp(xs)-4*xs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figsize=(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12,4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Left: f(x) + Newton steps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axes[0].plot(xs, ys,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'b-'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lw=2)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axes[0].plot(log[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'f(x)'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'rs-'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,ms=8)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'Newton Steps'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Right: quadratic convergence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axes[1].semilogy(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log[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'|grad|'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'o-'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,c=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'orange'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,lw=2)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axes[1].set_xlabel(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'Iteration'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axes[1].set_title(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'|Gradient| (log scale)'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
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292608" y="486460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Data Manipulation — numpy linalg.solve + pandas history log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68112" y="4864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Visualization — convergence path + quadratic |grad| log plot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Interactive Website: Newton's Method Visualizer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868680"/>
            <a:ext cx="5120640" cy="4069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" y="868680"/>
            <a:ext cx="54864" cy="4069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978408"/>
            <a:ext cx="491947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Uses math.js for symbolic diff --&gt;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"mathjs.min.js"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&gt;&lt;/script&gt;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"plotly-latest.min.js"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&gt;&lt;/script&gt;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&gt;f(x): &lt;input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"fn"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"exp(x)-4*x"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&gt;&lt;/label&gt;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&gt;x₀: &lt;input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"x0"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&gt;&lt;/label&gt;
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"runNewton()"</a:t>
            </a:r>
            <a:pPr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&gt;▶ Run Newton&lt;/button&gt;
</a:t>
            </a:r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runNewton(){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expr = document.getElementById(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'fn'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).value;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  = x=&gt;math.evaluate(expr,{x});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fp = x=&gt;math.derivative(expr,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).evaluate({x});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fpp= x=&gt;math.derivative(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math.derivative(expr,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).toString(),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).evaluate({x});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x=+document.getElementById(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'x0'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).value;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xs=[x], ys=[f(x)], grads=[Math.abs(fp(x))];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(let i=0;i&lt;20;i++){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-= fp(x)/fpp(x);   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Newton step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xs.push(x); ys.push(f(x)); grads.push(Math.abs(fp(x)));
</a:t>
            </a:r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(Math.abs(fp(x))&lt;1e-10) break;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plotResults(xs, ys, grads);
</a:t>
            </a:r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559552" y="868680"/>
            <a:ext cx="3291840" cy="40690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59552" y="868680"/>
            <a:ext cx="3291840" cy="384048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13" name="Text 10"/>
          <p:cNvSpPr/>
          <p:nvPr/>
        </p:nvSpPr>
        <p:spPr>
          <a:xfrm>
            <a:off x="5650992" y="886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Features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32704" y="1380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✏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16752" y="1380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f(x) Entry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16752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symbolic 1st &amp; 2nd derivative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32704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16752" y="1883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Mode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016752" y="2084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between Newton steps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32704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16752" y="2386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Surface Plot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16752" y="2587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path on 2D bowl surface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32704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16752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Chart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016752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|grad| shows quadratic drop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32704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016752" y="3392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Approximation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016752" y="3593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Taylor expansion at each step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32704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016752" y="3895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016752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GD vs Newton side-by-side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Applications of Newton's Method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886968"/>
            <a:ext cx="2816352" cy="475488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Nonlinear Equations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systems of nonlinear equations (e.g., power flow in electrical grids, equilibrium chemistry) — Newton's method is the standard solver.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886968"/>
            <a:ext cx="2816352" cy="4754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1"/>
          <p:cNvSpPr/>
          <p:nvPr/>
        </p:nvSpPr>
        <p:spPr>
          <a:xfrm>
            <a:off x="3264408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Interior-Point Methods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64408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LP/QP solvers (IPOPT, Gurobi) use Newton steps inside the barrier method — solving million-variable optimization in seconds.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17336" y="88696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17336" y="886968"/>
            <a:ext cx="2816352" cy="475488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18" name="Text 15"/>
          <p:cNvSpPr/>
          <p:nvPr/>
        </p:nvSpPr>
        <p:spPr>
          <a:xfrm>
            <a:off x="6208776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Structural Mechanics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element analysis with nonlinear materials — Newton linearizes residual equations at each loading step for accurate deformation.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" y="2898648"/>
            <a:ext cx="2816352" cy="4754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Orbital Mechanics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Kepler's equation for elliptical orbits. Newton's method converges in &lt;5 iterations — used in all satellite/spacecraft navigation.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72968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172968" y="2898648"/>
            <a:ext cx="2816352" cy="475488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26" name="Text 23"/>
          <p:cNvSpPr/>
          <p:nvPr/>
        </p:nvSpPr>
        <p:spPr>
          <a:xfrm>
            <a:off x="3264408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Quasi-Newton (BFGS/L-BFGS)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64408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Hessian is too expensive, BFGS approximates it from gradient history. L-BFGS trains large ML models (LLMs are partly fine-tuned with it).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17336" y="2898648"/>
            <a:ext cx="2816352" cy="1874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17336" y="2898648"/>
            <a:ext cx="2816352" cy="4754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0" name="Text 27"/>
          <p:cNvSpPr/>
          <p:nvPr/>
        </p:nvSpPr>
        <p:spPr>
          <a:xfrm>
            <a:off x="6208776" y="2962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Computer Graphics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08776" y="3429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Physically-based simulation (cloth, fluids, rigid bodies): Newton solves implicit integration systems at each timestep for stable animation.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Why Newton's Method? Advantages &amp; Uniqueness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886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can't match — Newton's unique strengths: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74320" y="1316736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316736"/>
            <a:ext cx="64008" cy="10789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Quadratic Convergence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" y="1682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shrink as eₙ₊₁ ≈ C·eₙ². Near the minimum, each step doubles precision. GD is linear: takes 100s of steps for the same accuracy.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4709160" y="1316736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16736"/>
            <a:ext cx="64008" cy="10789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2"/>
          <p:cNvSpPr/>
          <p:nvPr/>
        </p:nvSpPr>
        <p:spPr>
          <a:xfrm>
            <a:off x="4855464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Curvature-Aware Steps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55464" y="1682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Hessian encodes the shape of f — Newton's step automatically scales with curvature. No learning-rate tuning needed (unlike GD).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274320" y="2487168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487168"/>
            <a:ext cx="64008" cy="10789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∝ Affine Invariant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0624" y="2852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 is unaffected by linear reparameterization of x. GD's convergence degrades badly on ill-scaled problems without preconditioning.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709160" y="2487168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487168"/>
            <a:ext cx="64008" cy="10789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0"/>
          <p:cNvSpPr/>
          <p:nvPr/>
        </p:nvSpPr>
        <p:spPr>
          <a:xfrm>
            <a:off x="4855464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Exact for Quadratic f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55464" y="2852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quadratic function f(x)=½xᵀAx−bᵀx, Newton converges in exactly ONE step regardless of dimensionality.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74320" y="3657600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657600"/>
            <a:ext cx="64008" cy="10789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4"/>
          <p:cNvSpPr/>
          <p:nvPr/>
        </p:nvSpPr>
        <p:spPr>
          <a:xfrm>
            <a:off x="420624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Foundation of IP Methods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0624" y="4023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Interior-point LP/QP solvers (Gurobi, MOSEK) use Newton steps internally — enabling trillion-dollar financial and logistics optimization.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4709160" y="3657600"/>
            <a:ext cx="4251960" cy="1078992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3657600"/>
            <a:ext cx="64008" cy="10789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8"/>
          <p:cNvSpPr/>
          <p:nvPr/>
        </p:nvSpPr>
        <p:spPr>
          <a:xfrm>
            <a:off x="4855464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Used in Physics Engines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55464" y="4023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Euler, BDF solvers, finite element residuals — all solved each timestep with Newton, enabling realistic real-time simulation.</a:t>
            </a:r>
            <a:endParaRPr lang="en-US" sz="10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Limitations of Newton's Method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914400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O(n³) Hessian Cost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316736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and inverting the n×n Hessian costs O(n³) per iteration and O(n²) memory. For n=10⁶ (neural networks), this is completely infeasible.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914400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914400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Non-Positive Definite 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1316736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 has negative eigenvalues (non-convex region), Newton's step can go uphill. Requires modifications (Levenberg-Marquardt, trust-region).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2267712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267712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2359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Poor Global Behaviour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" y="2670048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the minimum, Newton's large steps can diverge. Needs careful globalization (line search or trust-region) to be reliable.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2267712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2267712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2359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Second Derivatives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46320" y="2670048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must be twice differentiable. Many ML loss surfaces are not (e.g. ReLU activations) — making pure Newton inapplicable.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3621024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621024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37124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Sensitive to Starting Point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" y="4023360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only guaranteed locally. A bad x₀ may lead to divergence or convergence to an unintended critical point.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709160" y="3621024"/>
            <a:ext cx="425196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09160" y="3621024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37124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Saddle Points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46320" y="4023360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 is attracted to saddle points (where ∇f=0 but H is indefinite) — it cannot distinguish minima from saddle points.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4681728"/>
            <a:ext cx="8595360" cy="246888"/>
          </a:xfrm>
          <a:prstGeom prst="rect">
            <a:avLst/>
          </a:prstGeom>
          <a:solidFill>
            <a:srgbClr val="7B2D00"/>
          </a:solidFill>
          <a:ln/>
        </p:spPr>
      </p:sp>
      <p:sp>
        <p:nvSpPr>
          <p:cNvPr id="33" name="Text 30"/>
          <p:cNvSpPr/>
          <p:nvPr/>
        </p:nvSpPr>
        <p:spPr>
          <a:xfrm>
            <a:off x="384048" y="468172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Quasi-Newton methods (BFGS, L-BFGS) are the practical solution — approximating H at O(n) cost.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Suggestions to Overcome Limitations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E8F5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68680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868680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" y="960120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L-BFGS for Large Scale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6384" y="1252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Limited-memory BFGS approximates H⁻¹ using recent gradient vectors — O(n) memory. Standard for training large ML models (GPT fine-tuning).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868680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868680"/>
            <a:ext cx="64008" cy="1234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6" name="Shape 13"/>
          <p:cNvSpPr/>
          <p:nvPr/>
        </p:nvSpPr>
        <p:spPr>
          <a:xfrm>
            <a:off x="4846320" y="960120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21224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Levenberg-Marquardt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21224" y="1252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 with H+λI (λ&gt;0) — guarantees positive definiteness. Blends GD (large λ) and Newton (small λ) adaptively. Standard in curve fitting.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" y="2221992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221992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Shape 19"/>
          <p:cNvSpPr/>
          <p:nvPr/>
        </p:nvSpPr>
        <p:spPr>
          <a:xfrm>
            <a:off x="411480" y="2313432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86384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Trust-Region Methods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6384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Newton step to a safe radius Δ — provably globally convergent. Dogleg and CG-Steihaug algorithms implement this efficiently.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09160" y="2221992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221992"/>
            <a:ext cx="64008" cy="1234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8" name="Shape 25"/>
          <p:cNvSpPr/>
          <p:nvPr/>
        </p:nvSpPr>
        <p:spPr>
          <a:xfrm>
            <a:off x="4846320" y="2313432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9" name="Text 26"/>
          <p:cNvSpPr/>
          <p:nvPr/>
        </p:nvSpPr>
        <p:spPr>
          <a:xfrm>
            <a:off x="484632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221224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Differentiation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221224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JAX, PyTorch, or TensorFlow for exact Hessian computation (hessian-vector products in O(n) each) — removes hand-coding burden.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3575304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575304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Shape 31"/>
          <p:cNvSpPr/>
          <p:nvPr/>
        </p:nvSpPr>
        <p:spPr>
          <a:xfrm>
            <a:off x="411480" y="3666744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5" name="Text 32"/>
          <p:cNvSpPr/>
          <p:nvPr/>
        </p:nvSpPr>
        <p:spPr>
          <a:xfrm>
            <a:off x="41148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86384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Newton (CG)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86384" y="39593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H·d=g approximately using conjugate gradient — avoids full Hessian inversion, scales to large problems while keeping Newton's spirit.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09160" y="3575304"/>
            <a:ext cx="425196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09160" y="3575304"/>
            <a:ext cx="64008" cy="1234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0" name="Shape 37"/>
          <p:cNvSpPr/>
          <p:nvPr/>
        </p:nvSpPr>
        <p:spPr>
          <a:xfrm>
            <a:off x="4846320" y="3666744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221224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Saddle-Escaping Heuristics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221224" y="39593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x by small noise when ∇f≈0 and H is indefinite, or use negative curvature directions — guarantees finding true local minima.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2121408"/>
            <a:ext cx="5943600" cy="0"/>
          </a:xfrm>
          <a:prstGeom prst="line">
            <a:avLst/>
          </a:prstGeom>
          <a:noFill/>
          <a:ln w="12700">
            <a:solidFill>
              <a:srgbClr val="1E447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2286000"/>
            <a:ext cx="594360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70432" y="2313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2587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Derivative-free, optimal bracket reduction, φ ≈ 0.618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594360" cy="594360"/>
          </a:xfrm>
          <a:prstGeom prst="rect">
            <a:avLst/>
          </a:prstGeom>
          <a:solidFill>
            <a:srgbClr val="43AA8B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70432" y="3136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70432" y="34107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First-order, scalable to millions of vars, powers deep learning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594360" cy="594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70432" y="3959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70432" y="4233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Second-order, quadratic convergence, curvature-aware steps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  •  Department of Mathematics &amp; Engineering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∇f(x*)=0  •  H⁻¹∇f  •  φ=(√5−1)/2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Optimization – Three Methods</dc:title>
  <dc:subject>PptxGenJS Presentation</dc:subject>
  <dc:creator>PptxGenJS</dc:creator>
  <cp:lastModifiedBy>PptxGenJS</cp:lastModifiedBy>
  <cp:revision>1</cp:revision>
  <dcterms:created xsi:type="dcterms:W3CDTF">2026-04-24T11:28:01Z</dcterms:created>
  <dcterms:modified xsi:type="dcterms:W3CDTF">2026-04-24T11:28:01Z</dcterms:modified>
</cp:coreProperties>
</file>